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://serviser.hr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Hrvatska ima posebnu potrebu jer se većina servis usluga odvija lokalno, a Google pretrage i Facebook grupe nisu organizirane.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Serviser.hr je rješenje - jednostavna, inteligentna platforma. Vlasnici automobila mogu pregledati sve dostupne mehaničare na jednom mjestu, vidjeti njihove recenzije, kvalifikacije i cijene, te odmah rezervirati. Za mehaničare, to znači vidljivost, organizirane narudžbe i jednostavno upravljanje radom.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kako funkcionira Serviser.hr. Ključni sudionici su vlasnici automobila i tvrtke servisiranja. Oni se upoznaju kroz platformu,  </a:t>
            </a:r>
            <a:r>
              <a:rPr u="sng">
                <a:hlinkClick r:id="rId3" invalidUrl="" action="" tgtFrame="" tooltip="" history="1" highlightClick="0" endSnd="0"/>
              </a:rPr>
              <a:t>serviser.hr</a:t>
            </a:r>
            <a:r>
              <a:t> sigurne transakcije i komunikaciju. Zarada dolazi iz marže od naloga - 1%, te iz premium opcija za korisnike/servisere. Fokusirajući se na povjerenje i transparentnost, postaju ključne vrijednosti.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Naslov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i datum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>
                <a:solidFill>
                  <a:srgbClr val="FFFFFF"/>
                </a:solidFill>
              </a:defRPr>
            </a:lvl1pPr>
          </a:lstStyle>
          <a:p>
            <a:pPr/>
            <a:r>
              <a:t>Autor i datum</a:t>
            </a:r>
          </a:p>
        </p:txBody>
      </p:sp>
      <p:sp>
        <p:nvSpPr>
          <p:cNvPr id="12" name="Naslov prezentacij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solidFill>
                  <a:srgbClr val="FFFFFF"/>
                </a:solidFill>
              </a:defRPr>
            </a:lvl1pPr>
          </a:lstStyle>
          <a:p>
            <a:pPr/>
            <a:r>
              <a:t>Naslov prezentacije</a:t>
            </a:r>
          </a:p>
        </p:txBody>
      </p:sp>
      <p:sp>
        <p:nvSpPr>
          <p:cNvPr id="13" name="Tijelo razine jedan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5pPr>
          </a:lstStyle>
          <a:p>
            <a:pPr/>
            <a:r>
              <a:t>Podnaslov prezentacije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Broj slajda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 i 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rh balona na vrući zrak gledan od iznad i izbliza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Naslov prezentacij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solidFill>
                  <a:srgbClr val="FFFFFF"/>
                </a:solidFill>
              </a:defRPr>
            </a:lvl1pPr>
          </a:lstStyle>
          <a:p>
            <a:pPr/>
            <a:r>
              <a:t>Naslov prezentacije</a:t>
            </a:r>
          </a:p>
        </p:txBody>
      </p:sp>
      <p:sp>
        <p:nvSpPr>
          <p:cNvPr id="23" name="Tijelo razine jedan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5pPr>
          </a:lstStyle>
          <a:p>
            <a:pPr/>
            <a:r>
              <a:t>Podnaslov prezentacije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 i datum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Autor i datum</a:t>
            </a:r>
          </a:p>
        </p:txBody>
      </p:sp>
      <p:sp>
        <p:nvSpPr>
          <p:cNvPr id="25" name="Broj slajda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ternativni naslov i 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lon na vrući zrak gledan od ispod i izbliza"/>
          <p:cNvSpPr/>
          <p:nvPr>
            <p:ph type="pic" idx="21"/>
          </p:nvPr>
        </p:nvSpPr>
        <p:spPr>
          <a:xfrm>
            <a:off x="4546600" y="692534"/>
            <a:ext cx="12591254" cy="83625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jelo razine jedan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Podnaslov slajda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Naslov slajda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Naslov slajda</a:t>
            </a:r>
          </a:p>
        </p:txBody>
      </p:sp>
      <p:sp>
        <p:nvSpPr>
          <p:cNvPr id="35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 i predzna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jelo razine jeda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44" name="Naslov slajd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45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dzna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jelo razine jeda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, predznaci i 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loni na vrući zrak gledani od ispod, s plavim nebom u pozadini"/>
          <p:cNvSpPr/>
          <p:nvPr>
            <p:ph type="pic" idx="21"/>
          </p:nvPr>
        </p:nvSpPr>
        <p:spPr>
          <a:xfrm>
            <a:off x="3797300" y="698500"/>
            <a:ext cx="12585470" cy="8356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Naslov slajda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62" name="Podnaslov slajda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63" name="Tijelo razine jedan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, predznaci i mali videoz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Naslov slajda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72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73" name="Tijelo razine jedan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, predznaci i veliki videoz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Naslov slajda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82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83" name="Tijelo razine jedan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djeljak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Naslov odjeljka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Naslov odjeljka</a:t>
            </a:r>
          </a:p>
        </p:txBody>
      </p:sp>
      <p:sp>
        <p:nvSpPr>
          <p:cNvPr id="92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aslov slajd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100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101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nevni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Naslov dnevnog reda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dnevnog reda</a:t>
            </a:r>
          </a:p>
        </p:txBody>
      </p:sp>
      <p:sp>
        <p:nvSpPr>
          <p:cNvPr id="109" name="Podnaslov dnevnog reda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dnevnog reda</a:t>
            </a:r>
          </a:p>
        </p:txBody>
      </p:sp>
      <p:sp>
        <p:nvSpPr>
          <p:cNvPr id="110" name="Tijelo razine jeda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Teme dnevnog reda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z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jelo razine jedan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Izjava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ažna činje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Činjenične informacije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Činjenične informacije</a:t>
            </a:r>
          </a:p>
        </p:txBody>
      </p:sp>
      <p:sp>
        <p:nvSpPr>
          <p:cNvPr id="127" name="Tijelo razine jedan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jelo razine jedan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“Istaknuti navodnici”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ribucija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Atribucija</a:t>
            </a:r>
          </a:p>
        </p:txBody>
      </p:sp>
      <p:sp>
        <p:nvSpPr>
          <p:cNvPr id="137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j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aloni na vrući zrak gledani od ispod, s plavim nebom u pozadini"/>
          <p:cNvSpPr/>
          <p:nvPr>
            <p:ph type="pic" idx="21"/>
          </p:nvPr>
        </p:nvSpPr>
        <p:spPr>
          <a:xfrm>
            <a:off x="-3860800" y="701538"/>
            <a:ext cx="12539868" cy="83599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aloni na vrući zrak gledani od ispod, s plavim nebom u pozadini"/>
          <p:cNvSpPr/>
          <p:nvPr>
            <p:ph type="pic" sz="quarter" idx="22"/>
          </p:nvPr>
        </p:nvSpPr>
        <p:spPr>
          <a:xfrm>
            <a:off x="6534860" y="698500"/>
            <a:ext cx="5967580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rh balona na vrući zrak gledan od iznad i izbliza"/>
          <p:cNvSpPr/>
          <p:nvPr>
            <p:ph type="pic" sz="quarter" idx="23"/>
          </p:nvPr>
        </p:nvSpPr>
        <p:spPr>
          <a:xfrm>
            <a:off x="6546850" y="5099050"/>
            <a:ext cx="5943600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aloni na vrući zrak gledani od ispod, s plavim nebom u pozadini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Broj slajda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elo razine jedan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Naslov slajda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Naslov slajda</a:t>
            </a:r>
          </a:p>
        </p:txBody>
      </p:sp>
      <p:sp>
        <p:nvSpPr>
          <p:cNvPr id="4" name="Broj slajda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36" strike="noStrike" sz="68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5E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ario Bariša, 4.FIPU ( UNIPU ) u Puli, 14.01.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Mario Bariša, 4.FIPU ( UNIPU ) u Puli, 14.01.26</a:t>
            </a:r>
          </a:p>
        </p:txBody>
      </p:sp>
      <p:sp>
        <p:nvSpPr>
          <p:cNvPr id="172" name="Serviser.hr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Serviser.hr</a:t>
            </a:r>
          </a:p>
        </p:txBody>
      </p:sp>
      <p:sp>
        <p:nvSpPr>
          <p:cNvPr id="173" name="Pametna platforma koja spaja vlasnika automobila s pouzdanim mehaničarima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Pametna platforma koja spaja vlasnika automobila s pouzdanim mehaničarima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❌ NEPREGLEDNOST pri pronalaženju mehaničara…"/>
          <p:cNvSpPr txBox="1"/>
          <p:nvPr>
            <p:ph type="body" idx="1"/>
          </p:nvPr>
        </p:nvSpPr>
        <p:spPr>
          <a:xfrm>
            <a:off x="698500" y="2367972"/>
            <a:ext cx="11607800" cy="6096001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❌ </a:t>
            </a:r>
            <a:r>
              <a:rPr b="1" i="1"/>
              <a:t>NEPREGLEDNOST</a:t>
            </a:r>
            <a:r>
              <a:t> pri pronalaženju mehaničara</a:t>
            </a:r>
          </a:p>
          <a:p>
            <a:pPr/>
            <a:r>
              <a:t>❌ </a:t>
            </a:r>
            <a:r>
              <a:rPr b="1" i="1"/>
              <a:t>NEMA</a:t>
            </a:r>
            <a:r>
              <a:t> informacija o kvalifikacijama i iskustvu</a:t>
            </a:r>
          </a:p>
          <a:p>
            <a:pPr/>
            <a:r>
              <a:t>❌ </a:t>
            </a:r>
            <a:r>
              <a:rPr b="1" i="1"/>
              <a:t>LOŠA</a:t>
            </a:r>
            <a:r>
              <a:t> organizacija servisa</a:t>
            </a:r>
          </a:p>
          <a:p>
            <a:pPr/>
          </a:p>
          <a:p>
            <a:pPr marL="0" indent="0">
              <a:buSzTx/>
              <a:buNone/>
            </a:pPr>
            <a:r>
              <a:t>Vlasnici automobila </a:t>
            </a:r>
            <a:r>
              <a:rPr b="1"/>
              <a:t>troše sate tražeći servisera </a:t>
            </a:r>
            <a:r>
              <a:t>kroz oglase / internet, bez jasnih informacija.</a:t>
            </a:r>
          </a:p>
        </p:txBody>
      </p:sp>
      <p:sp>
        <p:nvSpPr>
          <p:cNvPr id="176" name="Problemi vlasnika?"/>
          <p:cNvSpPr txBox="1"/>
          <p:nvPr>
            <p:ph type="title"/>
          </p:nvPr>
        </p:nvSpPr>
        <p:spPr>
          <a:xfrm>
            <a:off x="698500" y="612962"/>
            <a:ext cx="11607800" cy="1294429"/>
          </a:xfrm>
          <a:prstGeom prst="rect">
            <a:avLst/>
          </a:prstGeom>
        </p:spPr>
        <p:txBody>
          <a:bodyPr/>
          <a:lstStyle/>
          <a:p>
            <a:pPr/>
            <a:r>
              <a:t>Problemi vlasnika?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📊 Hrvatsko tržište auto-servisa: cca: 933,33 milijuna EU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📊 Hrvatsko tržište auto-servisa: cca: </a:t>
            </a:r>
            <a:r>
              <a:rPr b="1"/>
              <a:t>933,33 milijuna EUR</a:t>
            </a:r>
            <a:endParaRPr b="1"/>
          </a:p>
          <a:p>
            <a:pPr/>
            <a:r>
              <a:t>🔍 Problem: </a:t>
            </a:r>
            <a:r>
              <a:rPr b="1"/>
              <a:t>Nema centraliziranog rješenja</a:t>
            </a:r>
          </a:p>
          <a:p>
            <a:pPr/>
            <a:r>
              <a:t>💰 Konkurenti: Facebook grupe, Google pretraga, lokalni oglasi</a:t>
            </a:r>
          </a:p>
          <a:p>
            <a:pPr/>
            <a:r>
              <a:t>✅ serviser.hr : </a:t>
            </a:r>
            <a:r>
              <a:rPr b="1" i="1"/>
              <a:t>INTEGRIRANO rješenje - sve na jednom mjestu</a:t>
            </a:r>
            <a:endParaRPr b="1" i="1"/>
          </a:p>
          <a:p>
            <a:pPr>
              <a:defRPr b="1" i="1" u="sng"/>
            </a:pPr>
          </a:p>
          <a:p>
            <a:pPr marL="0" indent="0" algn="ctr">
              <a:buSzTx/>
              <a:buNone/>
              <a:defRPr b="1" i="1" u="sng"/>
            </a:pPr>
            <a:r>
              <a:t>Trend: Digitalizacija uslužnog sektora</a:t>
            </a:r>
          </a:p>
        </p:txBody>
      </p:sp>
      <p:sp>
        <p:nvSpPr>
          <p:cNvPr id="179" name="Tržišna analiza"/>
          <p:cNvSpPr txBox="1"/>
          <p:nvPr>
            <p:ph type="title"/>
          </p:nvPr>
        </p:nvSpPr>
        <p:spPr>
          <a:xfrm>
            <a:off x="698500" y="881384"/>
            <a:ext cx="11607800" cy="1016001"/>
          </a:xfrm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Tržišna analiza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erviser.hr je pametna platforma koja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i="1"/>
            </a:pPr>
            <a:r>
              <a:t>Serviser.hr je pametna platforma koja:</a:t>
            </a:r>
          </a:p>
          <a:p>
            <a:pPr marL="533400" indent="-533400">
              <a:buSzPct val="100000"/>
              <a:buAutoNum type="arabicPeriod" startAt="1"/>
            </a:pPr>
            <a:r>
              <a:rPr b="1"/>
              <a:t> </a:t>
            </a:r>
            <a:r>
              <a:rPr b="1"/>
              <a:t>Spaja</a:t>
            </a:r>
            <a:r>
              <a:t> vlasnika automobila s pouzdanim mehaničarima</a:t>
            </a:r>
          </a:p>
          <a:p>
            <a:pPr marL="533400" indent="-533400">
              <a:buSzPct val="100000"/>
              <a:buAutoNum type="arabicPeriod" startAt="1"/>
            </a:pPr>
            <a:r>
              <a:t> </a:t>
            </a:r>
            <a:r>
              <a:rPr b="1"/>
              <a:t>Prikazuje kvalifikacije</a:t>
            </a:r>
            <a:r>
              <a:t>, recenzije i cijene</a:t>
            </a:r>
          </a:p>
          <a:p>
            <a:pPr marL="533400" indent="-533400">
              <a:buSzPct val="100000"/>
              <a:buAutoNum type="arabicPeriod" startAt="1"/>
            </a:pPr>
            <a:r>
              <a:t> Omogućava </a:t>
            </a:r>
            <a:r>
              <a:rPr b="1"/>
              <a:t>jednostavnu rezervaciju</a:t>
            </a:r>
            <a:endParaRPr b="1"/>
          </a:p>
          <a:p>
            <a:pPr marL="533400" indent="-533400">
              <a:buSzPct val="100000"/>
              <a:buAutoNum type="arabicPeriod" startAt="1"/>
            </a:pPr>
            <a:r>
              <a:t> </a:t>
            </a:r>
            <a:r>
              <a:rPr b="1"/>
              <a:t>Digitalizira</a:t>
            </a:r>
            <a:r>
              <a:t> cijeli servisni proces</a:t>
            </a:r>
          </a:p>
          <a:p>
            <a:pPr/>
          </a:p>
          <a:p>
            <a:pPr/>
            <a:r>
              <a:rPr b="1" i="1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19802548" scaled="0"/>
                </a:gradFill>
              </a:rPr>
              <a:t>REZULTAT:</a:t>
            </a:r>
            <a:r>
              <a:t> </a:t>
            </a:r>
            <a:r>
              <a:rPr b="1" i="1"/>
              <a:t>Sigurnost za vlasnike, stabilne narudžbe za mehaničare.</a:t>
            </a:r>
          </a:p>
        </p:txBody>
      </p:sp>
      <p:sp>
        <p:nvSpPr>
          <p:cNvPr id="184" name="Serviser.h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Serviser.hr</a:t>
            </a:r>
          </a:p>
        </p:txBody>
      </p:sp>
      <p:sp>
        <p:nvSpPr>
          <p:cNvPr id="185" name="Rješenj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Rješenje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ri jednostavna koraka;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i="1"/>
            </a:lvl1pPr>
          </a:lstStyle>
          <a:p>
            <a:pPr/>
            <a:r>
              <a:t>Tri jednostavna koraka;</a:t>
            </a:r>
          </a:p>
        </p:txBody>
      </p:sp>
      <p:sp>
        <p:nvSpPr>
          <p:cNvPr id="190" name="Korisničko iskustvo - vlasnik automobil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31090">
              <a:defRPr spc="-96" sz="4828"/>
            </a:lvl1pPr>
          </a:lstStyle>
          <a:p>
            <a:pPr/>
            <a:r>
              <a:t>Korisničko iskustvo - vlasnik automobila</a:t>
            </a:r>
          </a:p>
        </p:txBody>
      </p:sp>
      <p:sp>
        <p:nvSpPr>
          <p:cNvPr id="191" name="Strelica"/>
          <p:cNvSpPr/>
          <p:nvPr/>
        </p:nvSpPr>
        <p:spPr>
          <a:xfrm>
            <a:off x="860472" y="5009671"/>
            <a:ext cx="11607802" cy="1270001"/>
          </a:xfrm>
          <a:prstGeom prst="rightArrow">
            <a:avLst>
              <a:gd name="adj1" fmla="val 37327"/>
              <a:gd name="adj2" fmla="val 104503"/>
            </a:avLst>
          </a:prstGeom>
          <a:gradFill>
            <a:gsLst>
              <a:gs pos="0">
                <a:schemeClr val="accent1">
                  <a:lumOff val="16847"/>
                </a:schemeClr>
              </a:gs>
              <a:gs pos="68032">
                <a:srgbClr val="2B9CDC"/>
              </a:gs>
              <a:gs pos="100000">
                <a:schemeClr val="accent1">
                  <a:lumOff val="-13575"/>
                </a:schemeClr>
              </a:gs>
            </a:gsLst>
            <a:lin ang="21205114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2" name="1️⃣  Prijavite kvar…"/>
          <p:cNvSpPr txBox="1"/>
          <p:nvPr/>
        </p:nvSpPr>
        <p:spPr>
          <a:xfrm>
            <a:off x="478484" y="7651966"/>
            <a:ext cx="4913123" cy="886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20000"/>
              </a:lnSpc>
              <a:defRPr sz="2000"/>
            </a:pPr>
            <a:r>
              <a:t>1️⃣  </a:t>
            </a:r>
            <a:r>
              <a:rPr b="1" i="1"/>
              <a:t>Prijavite kvar</a:t>
            </a:r>
            <a:r>
              <a:t> </a:t>
            </a:r>
          </a:p>
          <a:p>
            <a:pPr marL="254000" indent="-254000">
              <a:lnSpc>
                <a:spcPct val="20000"/>
              </a:lnSpc>
              <a:buSzPct val="123000"/>
              <a:buChar char="•"/>
              <a:defRPr sz="2000"/>
            </a:pPr>
            <a:r>
              <a:t> Odaberite tip problema, vozilo i hutnost</a:t>
            </a:r>
          </a:p>
        </p:txBody>
      </p:sp>
      <p:pic>
        <p:nvPicPr>
          <p:cNvPr id="193" name="Linija Linija" descr="Linija Linija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6774153">
            <a:off x="821091" y="6651609"/>
            <a:ext cx="1645970" cy="352735"/>
          </a:xfrm>
          <a:prstGeom prst="rect">
            <a:avLst/>
          </a:prstGeom>
        </p:spPr>
      </p:pic>
      <p:sp>
        <p:nvSpPr>
          <p:cNvPr id="195" name="Početak"/>
          <p:cNvSpPr txBox="1"/>
          <p:nvPr/>
        </p:nvSpPr>
        <p:spPr>
          <a:xfrm>
            <a:off x="870588" y="5420307"/>
            <a:ext cx="1255828" cy="448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2300"/>
            </a:lvl1pPr>
          </a:lstStyle>
          <a:p>
            <a:pPr/>
            <a:r>
              <a:t>Početak</a:t>
            </a:r>
          </a:p>
        </p:txBody>
      </p:sp>
      <p:sp>
        <p:nvSpPr>
          <p:cNvPr id="196" name="2️⃣  Odaberite servisera…"/>
          <p:cNvSpPr txBox="1"/>
          <p:nvPr/>
        </p:nvSpPr>
        <p:spPr>
          <a:xfrm>
            <a:off x="3945254" y="2557389"/>
            <a:ext cx="5114291" cy="923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30000"/>
              </a:lnSpc>
              <a:defRPr sz="2000"/>
            </a:pPr>
            <a:r>
              <a:t>2️⃣  </a:t>
            </a:r>
            <a:r>
              <a:rPr b="1"/>
              <a:t>Odaberite servisera</a:t>
            </a:r>
          </a:p>
          <a:p>
            <a:pPr marL="254000" indent="-254000">
              <a:lnSpc>
                <a:spcPct val="30000"/>
              </a:lnSpc>
              <a:buSzPct val="123000"/>
              <a:buChar char="•"/>
              <a:defRPr sz="2000"/>
            </a:pPr>
            <a:r>
              <a:t>    Filtrirajte po lokaciji, recenzijama i cijeni</a:t>
            </a:r>
          </a:p>
        </p:txBody>
      </p:sp>
      <p:pic>
        <p:nvPicPr>
          <p:cNvPr id="197" name="Linija Linija" descr="Linija Linija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5793312">
            <a:off x="5012961" y="4179371"/>
            <a:ext cx="1365286" cy="352735"/>
          </a:xfrm>
          <a:prstGeom prst="rect">
            <a:avLst/>
          </a:prstGeom>
        </p:spPr>
      </p:pic>
      <p:sp>
        <p:nvSpPr>
          <p:cNvPr id="199" name="3️⃣  Rezervirajte i pratite…"/>
          <p:cNvSpPr txBox="1"/>
          <p:nvPr/>
        </p:nvSpPr>
        <p:spPr>
          <a:xfrm>
            <a:off x="7633871" y="7633551"/>
            <a:ext cx="6498845" cy="923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30000"/>
              </a:lnSpc>
              <a:defRPr sz="2000"/>
            </a:pPr>
            <a:r>
              <a:t>3️⃣  </a:t>
            </a:r>
            <a:r>
              <a:rPr b="1"/>
              <a:t>Rezervirajte i pratite</a:t>
            </a:r>
            <a:endParaRPr b="1"/>
          </a:p>
          <a:p>
            <a:pPr>
              <a:lnSpc>
                <a:spcPct val="30000"/>
              </a:lnSpc>
              <a:defRPr sz="2000"/>
            </a:pPr>
            <a:r>
              <a:t>    Direktna komunikacija, plaćanje i povratne informacije</a:t>
            </a:r>
          </a:p>
        </p:txBody>
      </p:sp>
      <p:pic>
        <p:nvPicPr>
          <p:cNvPr id="200" name="Linija Linija" descr="Linija Linija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5196044">
            <a:off x="8116104" y="6651609"/>
            <a:ext cx="1412187" cy="352735"/>
          </a:xfrm>
          <a:prstGeom prst="rect">
            <a:avLst/>
          </a:prstGeom>
        </p:spPr>
      </p:pic>
      <p:sp>
        <p:nvSpPr>
          <p:cNvPr id="202" name="Popravak gotov"/>
          <p:cNvSpPr txBox="1"/>
          <p:nvPr/>
        </p:nvSpPr>
        <p:spPr>
          <a:xfrm>
            <a:off x="9803603" y="5420307"/>
            <a:ext cx="2289569" cy="448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2300"/>
            </a:lvl1pPr>
          </a:lstStyle>
          <a:p>
            <a:pPr/>
            <a:r>
              <a:t>Popravak gotov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467" y="1391151"/>
            <a:ext cx="12341866" cy="6971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ve informacije na jednom mjestu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56501">
              <a:defRPr spc="-114" sz="5712"/>
            </a:lvl1pPr>
          </a:lstStyle>
          <a:p>
            <a:pPr/>
            <a:r>
              <a:t>Sve informacije na jednom mjestu.</a:t>
            </a:r>
          </a:p>
        </p:txBody>
      </p:sp>
      <p:pic>
        <p:nvPicPr>
          <p:cNvPr id="207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1735" y="1494922"/>
            <a:ext cx="8921330" cy="73760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Informacije o serviserima i jendostavne uplate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075036">
              <a:defRPr spc="-84" sz="4216"/>
            </a:lvl1pPr>
          </a:lstStyle>
          <a:p>
            <a:pPr/>
            <a:r>
              <a:t>Informacije o serviserima i jendostavne uplate.</a:t>
            </a:r>
          </a:p>
        </p:txBody>
      </p:sp>
      <p:pic>
        <p:nvPicPr>
          <p:cNvPr id="210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0900" y="1273155"/>
            <a:ext cx="8763000" cy="7975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📋 Upravljanje nalogima…"/>
          <p:cNvSpPr txBox="1"/>
          <p:nvPr>
            <p:ph type="body" idx="1"/>
          </p:nvPr>
        </p:nvSpPr>
        <p:spPr>
          <a:xfrm>
            <a:off x="698500" y="1841436"/>
            <a:ext cx="11607800" cy="7213664"/>
          </a:xfrm>
          <a:prstGeom prst="rect">
            <a:avLst/>
          </a:prstGeom>
        </p:spPr>
        <p:txBody>
          <a:bodyPr/>
          <a:lstStyle/>
          <a:p>
            <a:pPr marL="198119" indent="-198119" defTabSz="901643">
              <a:spcBef>
                <a:spcPts val="1600"/>
              </a:spcBef>
              <a:defRPr sz="2443"/>
            </a:pPr>
            <a:r>
              <a:t>📋 </a:t>
            </a:r>
            <a:r>
              <a:rPr b="1"/>
              <a:t>Upravljanje nalogima</a:t>
            </a:r>
          </a:p>
          <a:p>
            <a:pPr lvl="1" marL="711911" indent="-434543" defTabSz="901643">
              <a:spcBef>
                <a:spcPts val="1600"/>
              </a:spcBef>
              <a:buSzPct val="100000"/>
              <a:buAutoNum type="arabicPeriod" startAt="1"/>
              <a:defRPr sz="2443"/>
            </a:pPr>
            <a:r>
              <a:t>   Popis otvorenih i završenih naloga</a:t>
            </a:r>
          </a:p>
          <a:p>
            <a:pPr lvl="1" marL="711911" indent="-434543" defTabSz="901643">
              <a:spcBef>
                <a:spcPts val="1600"/>
              </a:spcBef>
              <a:buSzPct val="100000"/>
              <a:buAutoNum type="arabicPeriod" startAt="1"/>
              <a:defRPr sz="2443"/>
            </a:pPr>
            <a:r>
              <a:t>   Detalji svakog naloga sa specifikacijom</a:t>
            </a:r>
          </a:p>
          <a:p>
            <a:pPr marL="198119" indent="-198119" defTabSz="901643">
              <a:spcBef>
                <a:spcPts val="1600"/>
              </a:spcBef>
              <a:defRPr sz="2443"/>
            </a:pPr>
          </a:p>
          <a:p>
            <a:pPr marL="198119" indent="-198119" defTabSz="901643">
              <a:spcBef>
                <a:spcPts val="1600"/>
              </a:spcBef>
              <a:defRPr sz="2443"/>
            </a:pPr>
            <a:r>
              <a:t>💰 </a:t>
            </a:r>
            <a:r>
              <a:rPr b="1"/>
              <a:t>Upravljanje cijenikom</a:t>
            </a:r>
          </a:p>
          <a:p>
            <a:pPr lvl="1" marL="711911" indent="-434543" defTabSz="901643">
              <a:spcBef>
                <a:spcPts val="1600"/>
              </a:spcBef>
              <a:buSzPct val="100000"/>
              <a:buAutoNum type="arabicPeriod" startAt="1"/>
              <a:defRPr sz="2443"/>
            </a:pPr>
            <a:r>
              <a:t>   Fleksibno postavljanje cijena</a:t>
            </a:r>
          </a:p>
          <a:p>
            <a:pPr lvl="1" marL="711911" indent="-434543" defTabSz="901643">
              <a:spcBef>
                <a:spcPts val="1600"/>
              </a:spcBef>
              <a:buSzPct val="100000"/>
              <a:buAutoNum type="arabicPeriod" startAt="1"/>
              <a:defRPr sz="2443"/>
            </a:pPr>
            <a:r>
              <a:t>   Praćenje troškova</a:t>
            </a:r>
          </a:p>
          <a:p>
            <a:pPr marL="198119" indent="-198119" defTabSz="901643">
              <a:spcBef>
                <a:spcPts val="1600"/>
              </a:spcBef>
              <a:defRPr sz="2443"/>
            </a:pPr>
          </a:p>
          <a:p>
            <a:pPr marL="198119" indent="-198119" defTabSz="901643">
              <a:spcBef>
                <a:spcPts val="1600"/>
              </a:spcBef>
              <a:defRPr sz="2443"/>
            </a:pPr>
            <a:r>
              <a:t>⭐ </a:t>
            </a:r>
            <a:r>
              <a:rPr b="1"/>
              <a:t>Recenzije i reputacija</a:t>
            </a:r>
          </a:p>
          <a:p>
            <a:pPr lvl="1" marL="711911" indent="-434543" defTabSz="901643">
              <a:spcBef>
                <a:spcPts val="1600"/>
              </a:spcBef>
              <a:buSzPct val="100000"/>
              <a:buAutoNum type="arabicPeriod" startAt="1"/>
              <a:defRPr sz="2443"/>
            </a:pPr>
            <a:r>
              <a:t>   Odgovori na povratne informacije</a:t>
            </a:r>
          </a:p>
          <a:p>
            <a:pPr lvl="1" marL="711911" indent="-434543" defTabSz="901643">
              <a:spcBef>
                <a:spcPts val="1600"/>
              </a:spcBef>
              <a:buSzPct val="100000"/>
              <a:buAutoNum type="arabicPeriod" startAt="1"/>
              <a:defRPr sz="2443"/>
            </a:pPr>
            <a:r>
              <a:t>   Profesionalni profil</a:t>
            </a:r>
          </a:p>
          <a:p>
            <a:pPr marL="198119" indent="-198119" defTabSz="901643">
              <a:spcBef>
                <a:spcPts val="1600"/>
              </a:spcBef>
              <a:defRPr sz="2443"/>
            </a:pPr>
          </a:p>
          <a:p>
            <a:pPr marL="198119" indent="-198119" defTabSz="901643">
              <a:spcBef>
                <a:spcPts val="1600"/>
              </a:spcBef>
              <a:defRPr sz="2443"/>
            </a:pPr>
            <a:r>
              <a:t>📊 </a:t>
            </a:r>
            <a:r>
              <a:rPr b="1"/>
              <a:t>Admin panel:</a:t>
            </a:r>
            <a:r>
              <a:t>  Financijsko praćenje, računi, analize</a:t>
            </a:r>
          </a:p>
        </p:txBody>
      </p:sp>
      <p:sp>
        <p:nvSpPr>
          <p:cNvPr id="213" name="KORISNIČKO ISKUSTVO - MEHANIČAR (TVRTKA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88340">
              <a:defRPr spc="-77" sz="3875"/>
            </a:lvl1pPr>
          </a:lstStyle>
          <a:p>
            <a:pPr/>
            <a:r>
              <a:t>KORISNIČKO ISKUSTVO - MEHANIČAR (TVRTKA)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Jednostavno i brzo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Jednostavno i brzo.</a:t>
            </a:r>
          </a:p>
        </p:txBody>
      </p:sp>
      <p:pic>
        <p:nvPicPr>
          <p:cNvPr id="216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1517043"/>
            <a:ext cx="9042400" cy="7797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05050" y="730250"/>
            <a:ext cx="8394700" cy="8293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Business model canv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Business model canvas</a:t>
            </a:r>
          </a:p>
        </p:txBody>
      </p:sp>
      <p:graphicFrame>
        <p:nvGraphicFramePr>
          <p:cNvPr id="221" name="Tablica 1"/>
          <p:cNvGraphicFramePr/>
          <p:nvPr/>
        </p:nvGraphicFramePr>
        <p:xfrm>
          <a:off x="2950598" y="2385840"/>
          <a:ext cx="7116304" cy="6096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67867"/>
                <a:gridCol w="2367867"/>
                <a:gridCol w="2367867"/>
              </a:tblGrid>
              <a:tr h="2027766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E4C7C"/>
                          </a:solidFill>
                        </a:defRPr>
                      </a:pPr>
                      <a:r>
                        <a:t>Ključni partneri:</a:t>
                      </a:r>
                    </a:p>
                    <a:p>
                      <a:pPr>
                        <a:defRPr b="1" sz="2200"/>
                      </a:pPr>
                      <a:r>
                        <a:rPr>
                          <a:solidFill>
                            <a:srgbClr val="1E4C7C"/>
                          </a:solidFill>
                        </a:rPr>
                        <a:t> Tvrtke </a:t>
                      </a:r>
                      <a:r>
                        <a:t>servisiranja, vlasnici vozila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1900">
                          <a:solidFill>
                            <a:srgbClr val="1E4C7C"/>
                          </a:solidFill>
                        </a:defRPr>
                      </a:pPr>
                      <a:r>
                        <a:t>Ključne aktivnosti:</a:t>
                      </a:r>
                    </a:p>
                    <a:p>
                      <a:pPr>
                        <a:defRPr b="1" sz="1900"/>
                      </a:pPr>
                      <a:r>
                        <a:t>Matching platforms, payment, sigurnost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1E4C7C"/>
                          </a:solidFill>
                        </a:defRPr>
                      </a:pPr>
                      <a:r>
                        <a:t>Vrijednost ponude:</a:t>
                      </a:r>
                    </a:p>
                    <a:p>
                      <a:pPr>
                        <a:defRPr b="1" sz="2000"/>
                      </a:pPr>
                      <a:r>
                        <a:t>Transparentnost, praktičnost i sigurnost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27766">
                <a:tc>
                  <a:txBody>
                    <a:bodyPr/>
                    <a:lstStyle/>
                    <a:p>
                      <a:pPr>
                        <a:defRPr b="1" sz="2200"/>
                      </a:pPr>
                      <a:r>
                        <a:rPr>
                          <a:solidFill>
                            <a:srgbClr val="1E4C7C"/>
                          </a:solidFill>
                        </a:rPr>
                        <a:t>Kanali distribucije:</a:t>
                      </a:r>
                      <a:r>
                        <a:t> App stores, </a:t>
                      </a:r>
                      <a:r>
                        <a:rPr i="1"/>
                        <a:t>“word of mouth”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gradFill flip="none" rotWithShape="1">
                            <a:gsLst>
                              <a:gs pos="0">
                                <a:schemeClr val="accent1">
                                  <a:lumOff val="16847"/>
                                </a:schemeClr>
                              </a:gs>
                              <a:gs pos="100000">
                                <a:schemeClr val="accent1">
                                  <a:lumOff val="-13575"/>
                                </a:schemeClr>
                              </a:gs>
                            </a:gsLst>
                            <a:lin ang="18792254" scaled="0"/>
                          </a:gradFill>
                        </a:rPr>
                        <a:t>Serviser.hr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1900">
                          <a:solidFill>
                            <a:srgbClr val="1E4C7C"/>
                          </a:solidFill>
                        </a:defRPr>
                      </a:pPr>
                      <a:r>
                        <a:t>Odnos s kupcima:</a:t>
                      </a:r>
                    </a:p>
                    <a:p>
                      <a:pPr>
                        <a:defRPr b="1" sz="1900"/>
                      </a:pPr>
                      <a:r>
                        <a:t>Freemium ( osnovno besplatno, dostupne premium opcije 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27766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E4C7C"/>
                          </a:solidFill>
                        </a:defRPr>
                      </a:pPr>
                      <a:r>
                        <a:t>Ključni resursi:</a:t>
                      </a:r>
                    </a:p>
                    <a:p>
                      <a:pPr>
                        <a:defRPr b="1" sz="2200"/>
                      </a:pPr>
                      <a:r>
                        <a:t>Partnerstva sa servisima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2200"/>
                      </a:pPr>
                      <a:r>
                        <a:rPr>
                          <a:solidFill>
                            <a:srgbClr val="1E4C7C"/>
                          </a:solidFill>
                        </a:rPr>
                        <a:t>Prihodi:</a:t>
                      </a:r>
                      <a:r>
                        <a:t> Marža od narudžbi (1%), premium paketi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2200"/>
                      </a:pPr>
                      <a:r>
                        <a:rPr>
                          <a:solidFill>
                            <a:srgbClr val="1E4C7C"/>
                          </a:solidFill>
                        </a:rPr>
                        <a:t>Troškovi:</a:t>
                      </a:r>
                      <a:r>
                        <a:t> Razvoj, amrketin, korisnička podrška.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Za vlasnike automobila:…"/>
          <p:cNvSpPr txBox="1"/>
          <p:nvPr>
            <p:ph type="body" idx="1"/>
          </p:nvPr>
        </p:nvSpPr>
        <p:spPr>
          <a:xfrm>
            <a:off x="698500" y="1921922"/>
            <a:ext cx="11607800" cy="7133178"/>
          </a:xfrm>
          <a:prstGeom prst="rect">
            <a:avLst/>
          </a:prstGeom>
        </p:spPr>
        <p:txBody>
          <a:bodyPr/>
          <a:lstStyle/>
          <a:p>
            <a:pPr marL="278130" indent="-278130" defTabSz="1265768">
              <a:spcBef>
                <a:spcPts val="2300"/>
              </a:spcBef>
              <a:defRPr b="1" sz="2190"/>
            </a:pPr>
            <a:r>
              <a:t>Za vlasnike automobila:</a:t>
            </a:r>
          </a:p>
          <a:p>
            <a:pPr lvl="1" marL="445008" indent="-166878" defTabSz="1265768">
              <a:spcBef>
                <a:spcPts val="2300"/>
              </a:spcBef>
              <a:buSzPct val="100000"/>
              <a:buAutoNum type="arabicPeriod" startAt="1"/>
              <a:defRPr sz="219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</a:t>
            </a:r>
            <a:r>
              <a:rPr>
                <a:latin typeface="+mn-lt"/>
                <a:ea typeface="+mn-ea"/>
                <a:cs typeface="+mn-cs"/>
                <a:sym typeface="Helvetica Neue"/>
              </a:rPr>
              <a:t>  </a:t>
            </a: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  <a:latin typeface="+mn-lt"/>
                <a:ea typeface="+mn-ea"/>
                <a:cs typeface="+mn-cs"/>
                <a:sym typeface="Helvetica Neue"/>
              </a:rPr>
              <a:t>Pretraga servisera - BESPLATNO</a:t>
            </a:r>
            <a:endParaRPr>
              <a:latin typeface="+mn-lt"/>
              <a:ea typeface="+mn-ea"/>
              <a:cs typeface="+mn-cs"/>
              <a:sym typeface="Helvetica Neue"/>
            </a:endParaRPr>
          </a:p>
          <a:p>
            <a:pPr lvl="1" marL="445008" indent="-166878" defTabSz="1265768">
              <a:spcBef>
                <a:spcPts val="2300"/>
              </a:spcBef>
              <a:buSzPct val="100000"/>
              <a:buAutoNum type="arabicPeriod" startAt="1"/>
              <a:defRPr sz="2190"/>
            </a:pPr>
            <a:r>
              <a:t>   </a:t>
            </a: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Recenzije i ocjene - BESPLATNO</a:t>
            </a:r>
          </a:p>
          <a:p>
            <a:pPr lvl="1" marL="445008" indent="-166878" defTabSz="1265768">
              <a:spcBef>
                <a:spcPts val="2300"/>
              </a:spcBef>
              <a:buSzPct val="100000"/>
              <a:buAutoNum type="arabicPeriod" startAt="1"/>
              <a:defRPr sz="2190"/>
            </a:pPr>
            <a:r>
              <a:t>   </a:t>
            </a: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Rezervacija - BESPLATNO</a:t>
            </a:r>
          </a:p>
          <a:p>
            <a:pPr lvl="1" marL="445008" indent="-166878" defTabSz="1265768">
              <a:spcBef>
                <a:spcPts val="2300"/>
              </a:spcBef>
              <a:buSzPct val="100000"/>
              <a:buAutoNum type="arabicPeriod" startAt="1"/>
              <a:defRPr sz="2190"/>
            </a:pPr>
            <a:r>
              <a:t>   </a:t>
            </a:r>
            <a:r>
              <a:rPr b="1"/>
              <a:t>Premium</a:t>
            </a:r>
            <a:r>
              <a:t>: Prioritetna povezanost (+$5/mj)</a:t>
            </a:r>
          </a:p>
          <a:p>
            <a:pPr marL="278130" indent="-278130" defTabSz="1265768">
              <a:spcBef>
                <a:spcPts val="2300"/>
              </a:spcBef>
              <a:defRPr b="1" sz="2190"/>
            </a:pPr>
            <a:r>
              <a:t>Za mehaničare ( sevisere ):</a:t>
            </a:r>
          </a:p>
          <a:p>
            <a:pPr lvl="1" marL="778763" indent="-389381" defTabSz="1265768">
              <a:spcBef>
                <a:spcPts val="2300"/>
              </a:spcBef>
              <a:buSzPct val="100000"/>
              <a:buAutoNum type="arabicPeriod" startAt="1"/>
              <a:defRPr sz="2190"/>
            </a:pPr>
            <a:r>
              <a:t>  </a:t>
            </a: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Osnovni profil - BESPLATNO</a:t>
            </a:r>
          </a:p>
          <a:p>
            <a:pPr lvl="1" marL="778763" indent="-389381" defTabSz="1265768">
              <a:spcBef>
                <a:spcPts val="2300"/>
              </a:spcBef>
              <a:buSzPct val="100000"/>
              <a:buAutoNum type="arabicPeriod" startAt="1"/>
              <a:defRPr sz="2190"/>
            </a:pPr>
            <a:r>
              <a:t>  Marža od narudžbi - 0.7%</a:t>
            </a:r>
          </a:p>
          <a:p>
            <a:pPr lvl="1" marL="778763" indent="-389381" defTabSz="1265768">
              <a:spcBef>
                <a:spcPts val="2300"/>
              </a:spcBef>
              <a:buSzPct val="100000"/>
              <a:buAutoNum type="arabicPeriod" startAt="1"/>
              <a:defRPr sz="2190"/>
            </a:pPr>
            <a:r>
              <a:t>  </a:t>
            </a:r>
            <a:r>
              <a:rPr b="1"/>
              <a:t>Premium</a:t>
            </a:r>
            <a:r>
              <a:t>: Featured profil, analytics (+$30/mj)</a:t>
            </a:r>
          </a:p>
          <a:p>
            <a:pPr marL="278130" indent="-278130" defTabSz="1265768">
              <a:spcBef>
                <a:spcPts val="2300"/>
              </a:spcBef>
              <a:defRPr b="1" sz="2190"/>
            </a:pPr>
            <a:r>
              <a:t>Dodatni prihodi:</a:t>
            </a:r>
          </a:p>
          <a:p>
            <a:pPr lvl="1" marL="778763" indent="-389381" defTabSz="1265768">
              <a:spcBef>
                <a:spcPts val="2300"/>
              </a:spcBef>
              <a:buSzPct val="100000"/>
              <a:buAutoNum type="alphaUcPeriod" startAt="1"/>
              <a:defRPr sz="2190"/>
            </a:pPr>
            <a:r>
              <a:t>  Oglasi lokalnih dobavljača (5% od prihoda)</a:t>
            </a:r>
          </a:p>
          <a:p>
            <a:pPr lvl="1" marL="778763" indent="-389381" defTabSz="1265768">
              <a:spcBef>
                <a:spcPts val="2300"/>
              </a:spcBef>
              <a:buSzPct val="100000"/>
              <a:buAutoNum type="alphaUcPeriod" startAt="1"/>
              <a:defRPr sz="2190"/>
            </a:pPr>
            <a:r>
              <a:t>  Osiguranje/roadside assistance partnerstva</a:t>
            </a:r>
          </a:p>
        </p:txBody>
      </p:sp>
      <p:sp>
        <p:nvSpPr>
          <p:cNvPr id="226" name="Prihodi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Prihodi?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🔒 INTELEKTUALNO VLASNIŠTVO:…"/>
          <p:cNvSpPr txBox="1"/>
          <p:nvPr>
            <p:ph type="body" idx="1"/>
          </p:nvPr>
        </p:nvSpPr>
        <p:spPr>
          <a:xfrm>
            <a:off x="698500" y="2103912"/>
            <a:ext cx="11607800" cy="6951188"/>
          </a:xfrm>
          <a:prstGeom prst="rect">
            <a:avLst/>
          </a:prstGeom>
        </p:spPr>
        <p:txBody>
          <a:bodyPr/>
          <a:lstStyle/>
          <a:p>
            <a:pPr marL="228600" indent="-228600" defTabSz="1040358">
              <a:spcBef>
                <a:spcPts val="1900"/>
              </a:spcBef>
              <a:defRPr b="1" sz="2400"/>
            </a:pPr>
            <a:r>
              <a:t>🔒 INTELEKTUALNO VLASNIŠTVO: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Autorska prava: Kod, dizajn, Brand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Patentni: Algoritam matchinga servisera</a:t>
            </a:r>
          </a:p>
          <a:p>
            <a:pPr marL="228600" indent="-228600" defTabSz="1040358">
              <a:spcBef>
                <a:spcPts val="1900"/>
              </a:spcBef>
              <a:defRPr sz="2400"/>
            </a:pPr>
          </a:p>
          <a:p>
            <a:pPr marL="228600" indent="-228600" defTabSz="1040358">
              <a:spcBef>
                <a:spcPts val="1900"/>
              </a:spcBef>
              <a:defRPr b="1" sz="2400"/>
            </a:pPr>
            <a:r>
              <a:t>📋 PRIVATNOST &amp; SIGURNOST: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GDPR za korisničke podatke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Detaljni i kvalitetno opisani ToS &amp; Privacy Policy</a:t>
            </a:r>
          </a:p>
          <a:p>
            <a:pPr marL="228600" indent="-228600" defTabSz="1040358">
              <a:spcBef>
                <a:spcPts val="1900"/>
              </a:spcBef>
              <a:defRPr sz="2400"/>
            </a:pPr>
          </a:p>
          <a:p>
            <a:pPr marL="228600" indent="-228600" defTabSz="1040358">
              <a:spcBef>
                <a:spcPts val="1900"/>
              </a:spcBef>
              <a:defRPr b="1" sz="2400"/>
            </a:pPr>
            <a:r>
              <a:t>💳 POSLOVNA STRUKTURA: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Registracija kao d.o.o.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Pravila plaćanja i povrata novca</a:t>
            </a:r>
          </a:p>
          <a:p>
            <a:pPr lvl="1" marL="746760" indent="-426720" defTabSz="1040358">
              <a:spcBef>
                <a:spcPts val="1900"/>
              </a:spcBef>
              <a:buSzPct val="100000"/>
              <a:buAutoNum type="arabicPeriod" startAt="1"/>
              <a:defRPr sz="2400"/>
            </a:pPr>
            <a:r>
              <a:t>   Osiguranje od odgovornosti</a:t>
            </a:r>
          </a:p>
        </p:txBody>
      </p:sp>
      <p:sp>
        <p:nvSpPr>
          <p:cNvPr id="229" name="Privatnost i pravni aspekt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Privatnost i pravni aspekti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Q1 2026: PRVI Launch…"/>
          <p:cNvSpPr txBox="1"/>
          <p:nvPr>
            <p:ph type="body" idx="1"/>
          </p:nvPr>
        </p:nvSpPr>
        <p:spPr>
          <a:xfrm>
            <a:off x="698500" y="2017310"/>
            <a:ext cx="11607800" cy="7037790"/>
          </a:xfrm>
          <a:prstGeom prst="rect">
            <a:avLst/>
          </a:prstGeom>
        </p:spPr>
        <p:txBody>
          <a:bodyPr/>
          <a:lstStyle/>
          <a:p>
            <a:pPr marL="186689" indent="-186689" defTabSz="849625">
              <a:spcBef>
                <a:spcPts val="1500"/>
              </a:spcBef>
              <a:defRPr b="1" sz="1862">
                <a:solidFill>
                  <a:schemeClr val="accent1"/>
                </a:solidFill>
              </a:defRPr>
            </a:pPr>
            <a:r>
              <a:t>Q1 2026: PRVI Launch</a:t>
            </a:r>
          </a:p>
          <a:p>
            <a:pPr lvl="1" marL="522731" indent="-261365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Apple App Store &amp; Google Play ( isključivo nema WEB aplikacije na poičetku )</a:t>
            </a:r>
          </a:p>
          <a:p>
            <a:pPr lvl="1" marL="522731" indent="-261365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500+ servisera na platformi</a:t>
            </a:r>
          </a:p>
          <a:p>
            <a:pPr lvl="1" marL="522731" indent="-261365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Fokus: Pula, Rijeka, Zagreb </a:t>
            </a:r>
          </a:p>
          <a:p>
            <a:pPr marL="186689" indent="-186689" defTabSz="849625">
              <a:spcBef>
                <a:spcPts val="1500"/>
              </a:spcBef>
              <a:defRPr sz="1862"/>
            </a:pPr>
          </a:p>
          <a:p>
            <a:pPr marL="186689" indent="-186689" defTabSz="849625">
              <a:spcBef>
                <a:spcPts val="1500"/>
              </a:spcBef>
              <a:defRPr b="1" sz="1862">
                <a:solidFill>
                  <a:schemeClr val="accent1">
                    <a:lumOff val="-13575"/>
                  </a:schemeClr>
                </a:solidFill>
              </a:defRPr>
            </a:pPr>
            <a:r>
              <a:t>Q2-Q3 2026: Ekspanzija</a:t>
            </a:r>
          </a:p>
          <a:p>
            <a:pPr lvl="1" marL="592429" indent="-331063" defTabSz="849625">
              <a:spcBef>
                <a:spcPts val="1500"/>
              </a:spcBef>
              <a:buSzPct val="100000"/>
              <a:buAutoNum type="arabicPeriod" startAt="1"/>
              <a:defRPr sz="1862"/>
            </a:pPr>
            <a:r>
              <a:t> </a:t>
            </a:r>
            <a:r>
              <a:rPr>
                <a:latin typeface="Helvetica Neue Medium"/>
                <a:ea typeface="Helvetica Neue Medium"/>
                <a:cs typeface="Helvetica Neue Medium"/>
                <a:sym typeface="Helvetica Neue Medium"/>
              </a:rPr>
              <a:t> Cijela HR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lvl="1" marL="592429" indent="-331063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Real-time tracking &amp; notifikacije</a:t>
            </a:r>
          </a:p>
          <a:p>
            <a:pPr lvl="1" marL="592429" indent="-331063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Mogucnost integracije osiguranja</a:t>
            </a:r>
          </a:p>
          <a:p>
            <a:pPr marL="186689" indent="-186689" defTabSz="849625">
              <a:spcBef>
                <a:spcPts val="1500"/>
              </a:spcBef>
              <a:defRPr sz="1862"/>
            </a:pPr>
          </a:p>
          <a:p>
            <a:pPr marL="186689" indent="-186689" defTabSz="849625">
              <a:spcBef>
                <a:spcPts val="1500"/>
              </a:spcBef>
              <a:defRPr b="1" sz="1862"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t>Q4 2026: Glavno Proširenje</a:t>
            </a:r>
          </a:p>
          <a:p>
            <a:pPr lvl="1" marL="592429" indent="-331063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Ekspanzija u regiju (Slovenija, BiH, Srbiija)</a:t>
            </a:r>
          </a:p>
          <a:p>
            <a:pPr lvl="1" marL="592429" indent="-331063" defTabSz="849625">
              <a:spcBef>
                <a:spcPts val="1500"/>
              </a:spcBef>
              <a:buSzPct val="100000"/>
              <a:buAutoNum type="arabicPeriod" startAt="1"/>
              <a:defRPr sz="1862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 Machine learning za preporuke ( AI boom )</a:t>
            </a:r>
          </a:p>
          <a:p>
            <a:pPr lvl="1" marL="0" indent="224027" defTabSz="849625">
              <a:spcBef>
                <a:spcPts val="1500"/>
              </a:spcBef>
              <a:buSzTx/>
              <a:buNone/>
              <a:defRPr sz="1862"/>
            </a:pPr>
          </a:p>
          <a:p>
            <a:pPr lvl="1" marL="0" indent="224027" algn="ctr" defTabSz="849625">
              <a:spcBef>
                <a:spcPts val="1500"/>
              </a:spcBef>
              <a:buSzTx/>
              <a:buNone/>
              <a:defRPr b="1" i="1" sz="1862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8569012" scaled="0"/>
                </a:gradFill>
              </a:defRPr>
            </a:pPr>
            <a:r>
              <a:t> </a:t>
            </a:r>
            <a:r>
              <a:rPr sz="2499"/>
              <a:t>CILJ: Biti broj 1 platforma za auto-servise u Hrvatskoj.</a:t>
            </a:r>
          </a:p>
        </p:txBody>
      </p:sp>
      <p:sp>
        <p:nvSpPr>
          <p:cNvPr id="232" name="Skica roadmap-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Skica roadmap-a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rviser.hr rješava 3 VELIKA problema:…"/>
          <p:cNvSpPr txBox="1"/>
          <p:nvPr>
            <p:ph type="body" idx="1"/>
          </p:nvPr>
        </p:nvSpPr>
        <p:spPr>
          <a:xfrm>
            <a:off x="698500" y="1974140"/>
            <a:ext cx="11607800" cy="6096001"/>
          </a:xfrm>
          <a:prstGeom prst="rect">
            <a:avLst/>
          </a:prstGeom>
        </p:spPr>
        <p:txBody>
          <a:bodyPr anchor="ctr"/>
          <a:lstStyle/>
          <a:p>
            <a:pPr lvl="1" marL="0" indent="457200">
              <a:buSzTx/>
              <a:buNone/>
            </a:pPr>
            <a:r>
              <a:rPr b="1">
                <a:solidFill>
                  <a:srgbClr val="1E4C7C"/>
                </a:solidFill>
              </a:rPr>
              <a:t>Serviser.hr</a:t>
            </a:r>
            <a:r>
              <a:t> rješava</a:t>
            </a:r>
            <a:r>
              <a:rPr b="1"/>
              <a:t> 3 VELIKA problema</a:t>
            </a:r>
            <a:r>
              <a:t>:</a:t>
            </a:r>
          </a:p>
          <a:p>
            <a:pPr lvl="1" marL="1066800" indent="-533400">
              <a:buSzPct val="100000"/>
              <a:buAutoNum type="arabicPeriod" startAt="1"/>
            </a:pPr>
            <a:r>
              <a:rPr b="1"/>
              <a:t>Transparentnost</a:t>
            </a:r>
            <a:r>
              <a:t> u pronalaženju mehaničara</a:t>
            </a:r>
          </a:p>
          <a:p>
            <a:pPr lvl="1" marL="1066800" indent="-533400">
              <a:buSzPct val="100000"/>
              <a:buAutoNum type="arabicPeriod" startAt="1"/>
            </a:pPr>
            <a:r>
              <a:t> </a:t>
            </a:r>
            <a:r>
              <a:rPr b="1"/>
              <a:t>Sigurnost</a:t>
            </a:r>
            <a:r>
              <a:t> za vlasnike automobila</a:t>
            </a:r>
          </a:p>
          <a:p>
            <a:pPr lvl="1" marL="1066800" indent="-533400">
              <a:buSzPct val="100000"/>
              <a:buAutoNum type="arabicPeriod" startAt="1"/>
            </a:pPr>
            <a:r>
              <a:rPr b="1"/>
              <a:t> Stabilne</a:t>
            </a:r>
            <a:r>
              <a:t> narudžbe za mehaničare</a:t>
            </a:r>
          </a:p>
        </p:txBody>
      </p:sp>
      <p:sp>
        <p:nvSpPr>
          <p:cNvPr id="235" name="Zaključa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pc="-119" sz="5984"/>
            </a:lvl1pPr>
          </a:lstStyle>
          <a:p>
            <a:pPr/>
            <a:r>
              <a:t>Zaključak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Hvala na pažnji.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Hvala na pažnji.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